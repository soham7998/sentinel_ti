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%</c:v>
                </c:pt>
              </c:strCache>
            </c:strRef>
          </c:tx>
          <c:spPr>
            <a:solidFill>
              <a:srgbClr val="2D5A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0B-4600-A3A5-5646F0B0952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70B-4600-A3A5-5646F0B0952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70B-4600-A3A5-5646F0B09524}"/>
              </c:ext>
            </c:extLst>
          </c:dPt>
          <c:dPt>
            <c:idx val="3"/>
            <c:invertIfNegative val="0"/>
            <c:bubble3D val="0"/>
            <c:spPr>
              <a:solidFill>
                <a:srgbClr val="00C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70B-4600-A3A5-5646F0B095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AIRPA
(Lewis '20)</c:v>
                </c:pt>
                <c:pt idx="1">
                  <c:v>Anjum &amp;
Chowdhury</c:v>
                </c:pt>
                <c:pt idx="2">
                  <c:v>Palaniappan
et al.</c:v>
                </c:pt>
                <c:pt idx="3">
                  <c:v>SentinelTI
(Ours)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91</c:v>
                </c:pt>
                <c:pt idx="2">
                  <c:v>89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0B-4600-A3A5-5646F0B095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5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25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3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A1F"/>
          </a:solidFill>
          <a:ln w="12700">
            <a:solidFill>
              <a:srgbClr val="0D1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7432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7432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9656" y="27432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9464" y="27432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078992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9656" y="1078992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9464" y="1078992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83664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1883664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9656" y="1883664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883664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88336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2688336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9656" y="2688336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9464" y="2688336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93008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3493008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9656" y="3493008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9464" y="3493008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9768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" y="429768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19656" y="429768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9464" y="4297680"/>
            <a:ext cx="91440" cy="91440"/>
          </a:xfrm>
          <a:prstGeom prst="ellipse">
            <a:avLst/>
          </a:prstGeom>
          <a:solidFill>
            <a:srgbClr val="00E676">
              <a:alpha val="22000"/>
            </a:srgbClr>
          </a:solidFill>
          <a:ln w="6350">
            <a:solidFill>
              <a:srgbClr val="00E676">
                <a:alpha val="20000"/>
              </a:srgbClr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1280160" cy="12801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14231" y="352044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SentinelTI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56032" y="3938452"/>
            <a:ext cx="2962656" cy="18288"/>
          </a:xfrm>
          <a:prstGeom prst="rect">
            <a:avLst/>
          </a:prstGeom>
          <a:solidFill>
            <a:srgbClr val="5A7A88"/>
          </a:solidFill>
          <a:ln w="12700">
            <a:solidFill>
              <a:srgbClr val="5A7A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3781" y="3971109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Somaiya Vidyavihar University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40480" y="685800"/>
            <a:ext cx="5074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ML</a:t>
            </a:r>
            <a:endParaRPr lang="en-US" sz="3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IP</a:t>
            </a:r>
            <a:endParaRPr lang="en-US" sz="3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3840480" y="30632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Maliciousness Risk Scoring for SOC Analysts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840480" y="37033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Shah  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840480" y="4206240"/>
            <a:ext cx="868680" cy="256032"/>
          </a:xfrm>
          <a:prstGeom prst="rect">
            <a:avLst/>
          </a:prstGeom>
          <a:solidFill>
            <a:srgbClr val="0A2A35"/>
          </a:solidFill>
          <a:ln w="6350">
            <a:solidFill>
              <a:srgbClr val="5A7A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40480" y="42062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818888" y="4206240"/>
            <a:ext cx="868680" cy="256032"/>
          </a:xfrm>
          <a:prstGeom prst="rect">
            <a:avLst/>
          </a:prstGeom>
          <a:solidFill>
            <a:srgbClr val="0A2A35"/>
          </a:solidFill>
          <a:ln w="6350">
            <a:solidFill>
              <a:srgbClr val="5A7A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18888" y="42062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797296" y="4206240"/>
            <a:ext cx="868680" cy="256032"/>
          </a:xfrm>
          <a:prstGeom prst="rect">
            <a:avLst/>
          </a:prstGeom>
          <a:solidFill>
            <a:srgbClr val="0A2A35"/>
          </a:solidFill>
          <a:ln w="6350">
            <a:solidFill>
              <a:srgbClr val="5A7A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97296" y="42062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775704" y="4206240"/>
            <a:ext cx="868680" cy="256032"/>
          </a:xfrm>
          <a:prstGeom prst="rect">
            <a:avLst/>
          </a:prstGeom>
          <a:solidFill>
            <a:srgbClr val="0A2A35"/>
          </a:solidFill>
          <a:ln w="6350">
            <a:solidFill>
              <a:srgbClr val="5A7A8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75704" y="42062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7754112" y="4206240"/>
            <a:ext cx="868680" cy="256032"/>
          </a:xfrm>
          <a:prstGeom prst="rect">
            <a:avLst/>
          </a:prstGeom>
          <a:solidFill>
            <a:srgbClr val="0A2A35"/>
          </a:solidFill>
          <a:ln w="6350">
            <a:solidFill>
              <a:srgbClr val="5A7A8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54112" y="42062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1"/>
          </a:solidFill>
          <a:ln w="12700">
            <a:solidFill>
              <a:srgbClr val="080E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threat intel fails SOC analysts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Blacklist-based systems leave teams flying blind — stale data, no context, no explanation.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05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Blacklists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lag of hours — attackers are long gone by the time alerts fire.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87452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305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0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why an IP is flagged. Analysts can't validate or trust alerts.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0215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55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or not — no risk gradient. All alerts treated as equally urgent.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00600" y="324612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0215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355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4–8% FPR at scale means thousands of false alarms per day.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SentinelTI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explainable IP threat scoring dashboard built for SOC-grade production use.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828800"/>
            <a:ext cx="1993392" cy="2633472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828800"/>
            <a:ext cx="1993392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2996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6334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3127248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Abuse.ch + CINS Army feeds · &lt;10s freshness · async enrichment pipeline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96312" y="1828800"/>
            <a:ext cx="1993392" cy="2633472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96312" y="1828800"/>
            <a:ext cx="1993392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02996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87752" y="26334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 Scoring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87752" y="3127248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XGBoost stacking · continuous risk score 0–1 · linear meta-learner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45152" y="1828800"/>
            <a:ext cx="1993392" cy="2633472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45152" y="1828800"/>
            <a:ext cx="1993392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02996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36592" y="26334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736592" y="3127248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+ local per-IP attribution · every score is auditable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793992" y="1828800"/>
            <a:ext cx="1993392" cy="2633472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93992" y="1828800"/>
            <a:ext cx="1993392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02996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85432" y="26334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885432" y="3127248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risk: LOW / MEDIUM / HIGH · colour-coded · Streamlit · Docker-ready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1"/>
          </a:solidFill>
          <a:ln w="12700">
            <a:solidFill>
              <a:srgbClr val="080E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Pipeline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and enrichment are fully decoupled — zero latency for analysts, full depth in the background.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627632"/>
            <a:ext cx="1298448" cy="2331720"/>
          </a:xfrm>
          <a:prstGeom prst="rect">
            <a:avLst/>
          </a:prstGeom>
          <a:solidFill>
            <a:srgbClr val="080E11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0392" y="1499616"/>
            <a:ext cx="347472" cy="347472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Feeds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176272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Abuse.ch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CINS Army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28216" y="2633472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1627632"/>
            <a:ext cx="1298448" cy="2331720"/>
          </a:xfrm>
          <a:prstGeom prst="rect">
            <a:avLst/>
          </a:prstGeom>
          <a:solidFill>
            <a:srgbClr val="080E11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95144" y="1499616"/>
            <a:ext cx="347472" cy="347472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95144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83664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Ingestion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83664" y="2176272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200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72968" y="2633472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1627632"/>
            <a:ext cx="1298448" cy="2331720"/>
          </a:xfrm>
          <a:prstGeom prst="rect">
            <a:avLst/>
          </a:prstGeom>
          <a:solidFill>
            <a:srgbClr val="080E11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9896" y="1499616"/>
            <a:ext cx="347472" cy="347472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Enrichment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2176272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 · ASN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2743200"/>
            <a:ext cx="128016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633472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18304" y="1627632"/>
            <a:ext cx="1298448" cy="2331720"/>
          </a:xfrm>
          <a:prstGeom prst="rect">
            <a:avLst/>
          </a:prstGeom>
          <a:solidFill>
            <a:srgbClr val="080E11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84648" y="1499616"/>
            <a:ext cx="347472" cy="347472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2176272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16752" y="2743200"/>
            <a:ext cx="128016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2633472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1627632"/>
            <a:ext cx="1298448" cy="2331720"/>
          </a:xfrm>
          <a:prstGeom prst="rect">
            <a:avLst/>
          </a:prstGeom>
          <a:solidFill>
            <a:srgbClr val="00503A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29400" y="1499616"/>
            <a:ext cx="347472" cy="347472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2176272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0–1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61504" y="2743200"/>
            <a:ext cx="128016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2633472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07808" y="1627632"/>
            <a:ext cx="1298448" cy="2331720"/>
          </a:xfrm>
          <a:prstGeom prst="rect">
            <a:avLst/>
          </a:prstGeom>
          <a:solidFill>
            <a:srgbClr val="00503A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74152" y="1499616"/>
            <a:ext cx="347472" cy="347472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74152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62672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SOC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62672" y="2176272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LOW·MED·HIGH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Fast ingestion path runs in milliseconds. Enrichment + ML scoring (green) runs asynchronously — dashboard freshness &lt;10s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Context via IPInfo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IP is enriched with location, network org, and privacy signals before ML scoring.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120640" cy="822960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19072"/>
            <a:ext cx="64008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06654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reports · Confidence % · Attack categories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5120640" cy="822960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79192"/>
            <a:ext cx="64008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34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02666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detections · Scan results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5120640" cy="822960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39312"/>
            <a:ext cx="64008" cy="822960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941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98678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· City · Org · ASN · VPN / Tor / Proxy flags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804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ENRICHMENT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52160" y="1078992"/>
            <a:ext cx="3108960" cy="1024128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13385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137.184.9.29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Abuse.ch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reports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 </a:t>
            </a:r>
            <a:r>
              <a:rPr lang="en-US" sz="8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5216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ENRICHMENT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52160" y="2514600"/>
            <a:ext cx="3108960" cy="1920240"/>
          </a:xfrm>
          <a:prstGeom prst="rect">
            <a:avLst/>
          </a:prstGeom>
          <a:solidFill>
            <a:srgbClr val="0D2530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578608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confidence_pct:  </a:t>
            </a:r>
            <a:r>
              <a:rPr lang="en-US" sz="85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recency_hrs: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vt_detections: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18/70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ipinfo_country: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ipinfo_org: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AS14061 DigitalOcean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privacy_tor: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
</a:t>
            </a: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risk_score:  </a:t>
            </a:r>
            <a:r>
              <a:rPr lang="en-US" sz="8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  →  HIGH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1"/>
          </a:solidFill>
          <a:ln w="12700">
            <a:solidFill>
              <a:srgbClr val="080E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Reports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299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957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(hrs)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614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Detections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 Geo Risk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930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Agreement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587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Diversity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54864" cy="23774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245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Feature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11880" y="1481328"/>
            <a:ext cx="2286000" cy="1051560"/>
          </a:xfrm>
          <a:prstGeom prst="rect">
            <a:avLst/>
          </a:prstGeom>
          <a:solidFill>
            <a:srgbClr val="080E11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03320" y="1572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3320" y="1920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200 trees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P_RF(y=1 | xᵢ)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11880" y="2715768"/>
            <a:ext cx="2286000" cy="1051560"/>
          </a:xfrm>
          <a:prstGeom prst="rect">
            <a:avLst/>
          </a:prstGeom>
          <a:solidFill>
            <a:srgbClr val="080E11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03320" y="2807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314553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300 trees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P_XGB(y=1 | xᵢ)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61888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92240" y="1874520"/>
            <a:ext cx="2212848" cy="1554480"/>
          </a:xfrm>
          <a:prstGeom prst="rect">
            <a:avLst/>
          </a:prstGeom>
          <a:solidFill>
            <a:srgbClr val="00503A"/>
          </a:solidFill>
          <a:ln w="19050">
            <a:solidFill>
              <a:srgbClr val="00C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874520"/>
            <a:ext cx="2212848" cy="64008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99339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340864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β₁·P_RF + β₂·P_XGB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P_final = sigmoid(ŷ)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48272" y="3584448"/>
            <a:ext cx="1691640" cy="411480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358444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 0 →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71232" y="3429000"/>
            <a:ext cx="54864" cy="164592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091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meta-learner chosen for interpretability: β₁ and β₂ coefficients expose relative model trust — full explainability preserved at every level.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DB72E5-4736-7070-8AEC-7E5C9E4585B2}"/>
              </a:ext>
            </a:extLst>
          </p:cNvPr>
          <p:cNvSpPr txBox="1"/>
          <p:nvPr/>
        </p:nvSpPr>
        <p:spPr>
          <a:xfrm>
            <a:off x="4591616" y="471499"/>
            <a:ext cx="4849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8 Features</a:t>
            </a:r>
          </a:p>
          <a:p>
            <a:r>
              <a:rPr lang="en-IN" sz="1200" dirty="0"/>
              <a:t>    │</a:t>
            </a:r>
          </a:p>
          <a:p>
            <a:r>
              <a:rPr lang="en-IN" sz="1200" dirty="0"/>
              <a:t>   ├──→  Random Forest  ──→  P = 0.88 ──┐</a:t>
            </a:r>
          </a:p>
          <a:p>
            <a:r>
              <a:rPr lang="en-IN" sz="1200" dirty="0"/>
              <a:t>    │                                             ─→  Meta-Learner  ──→  0.87  ──→  HIGH</a:t>
            </a:r>
          </a:p>
          <a:p>
            <a:r>
              <a:rPr lang="en-IN" sz="1200" dirty="0"/>
              <a:t>    └──→  </a:t>
            </a:r>
            <a:r>
              <a:rPr lang="en-IN" sz="1200" dirty="0" err="1"/>
              <a:t>XGBoost</a:t>
            </a:r>
            <a:r>
              <a:rPr lang="en-IN" sz="1200" dirty="0"/>
              <a:t>        ──→  P = 0.91 ──┘</a:t>
            </a:r>
          </a:p>
          <a:p>
            <a:r>
              <a:rPr lang="en-IN" sz="1200" dirty="0"/>
              <a:t>                                                     (Logistic Regression)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Global &amp; Local Interpretability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 value| across all IPs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929384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929384"/>
            <a:ext cx="1986991" cy="182880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87452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Reports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2267712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267712"/>
            <a:ext cx="1793138" cy="182880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2128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5511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Detections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2606040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606040"/>
            <a:ext cx="1478128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55117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8895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 Geo 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2944368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944368"/>
            <a:ext cx="106619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88950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2278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8880" y="3282696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282696"/>
            <a:ext cx="920801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22783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68880" y="3621024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3621024"/>
            <a:ext cx="726948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5661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3904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Feature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3959352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959352"/>
            <a:ext cx="581558" cy="182880"/>
          </a:xfrm>
          <a:prstGeom prst="rect">
            <a:avLst/>
          </a:prstGeom>
          <a:solidFill>
            <a:srgbClr val="5A7A88"/>
          </a:solidFill>
          <a:ln w="12700">
            <a:solidFill>
              <a:srgbClr val="5A7A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9044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242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(hrs)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8880" y="4297680"/>
            <a:ext cx="2423160" cy="182880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4297680"/>
            <a:ext cx="436169" cy="182880"/>
          </a:xfrm>
          <a:prstGeom prst="rect">
            <a:avLst/>
          </a:prstGeom>
          <a:solidFill>
            <a:srgbClr val="5A7A88"/>
          </a:solidFill>
          <a:ln w="12700">
            <a:solidFill>
              <a:srgbClr val="5A7A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24281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77840" y="12984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PER-IP EXPLANATION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77840" y="15727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137.184.9.29 — Risk Score: 0.87 (HIGH)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1938528"/>
            <a:ext cx="3337560" cy="347472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1938528"/>
            <a:ext cx="45720" cy="347472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1984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confidence_pct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36408" y="1984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2368296"/>
            <a:ext cx="3337560" cy="347472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2368296"/>
            <a:ext cx="45720" cy="347472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2414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abuse_reports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36408" y="2414016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0" y="2798064"/>
            <a:ext cx="3337560" cy="347472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2798064"/>
            <a:ext cx="45720" cy="347472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87568" y="28437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vt_detections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36408" y="284378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77840" y="3227832"/>
            <a:ext cx="3337560" cy="347472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3227832"/>
            <a:ext cx="45720" cy="347472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87568" y="3273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ipinfo_geo_risk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836408" y="3273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77840" y="3657600"/>
            <a:ext cx="3337560" cy="347472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3657600"/>
            <a:ext cx="45720" cy="347472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87568" y="3703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attack_types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836408" y="3703320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77840" y="4087368"/>
            <a:ext cx="3337560" cy="347472"/>
          </a:xfrm>
          <a:prstGeom prst="rect">
            <a:avLst/>
          </a:prstGeom>
          <a:solidFill>
            <a:srgbClr val="0D25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7840" y="4087368"/>
            <a:ext cx="45720" cy="3474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41330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multi_source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36408" y="413308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&gt; 0: pushes toward malicious  ·  φ &lt; 0: argues for benign  ·  Every score decomposed per feature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1"/>
          </a:solidFill>
          <a:ln w="12700">
            <a:solidFill>
              <a:srgbClr val="080E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Risk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binary blacklisting with a continuous risk gradient — enabling proportional SOC response.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4068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105156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8366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6824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required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1762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or stale historical reports. IP poses no current threat.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544068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79192"/>
            <a:ext cx="105156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3522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27340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29718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recommended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2278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mixed signals. Warrants analyst attention and further investigation.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544068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30752"/>
            <a:ext cx="10515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8678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7856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4023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42793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threat indicators. Multi-source confirmation. Block and escalate immediately.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1481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187452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3952" y="18928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24928" y="1911096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24928" y="213055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&gt;90%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246888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73952" y="24871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424928" y="2505456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24928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&gt;85%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0" y="306324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73952" y="308152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24928" y="3099816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24928" y="331927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&gt;90%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0" y="365760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73952" y="367588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24928" y="3694176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24928" y="391363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&lt;5%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0" y="425196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73952" y="427024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&lt;10s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424928" y="4288536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24928" y="450799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&lt;15s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SentinelTI vs. Prior Work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61872"/>
          <a:ext cx="50292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comparison across published IP reputation systems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8659"/>
              </p:ext>
            </p:extLst>
          </p:nvPr>
        </p:nvGraphicFramePr>
        <p:xfrm>
          <a:off x="5669280" y="1261872"/>
          <a:ext cx="3310128" cy="2011680"/>
        </p:xfrm>
        <a:graphic>
          <a:graphicData uri="http://schemas.openxmlformats.org/drawingml/2006/table">
            <a:tbl>
              <a:tblPr/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864"/>
                          </a:solidFill>
                        </a:rPr>
                        <a:t>System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864"/>
                          </a:solidFill>
                        </a:rPr>
                        <a:t>Real-time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864"/>
                          </a:solidFill>
                        </a:rPr>
                        <a:t>SHAP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864"/>
                          </a:solidFill>
                        </a:rPr>
                        <a:t>Precision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AIRPA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85%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Anjum '24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91%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Palaniappan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8E0"/>
                          </a:solidFill>
                        </a:rPr>
                        <a:t>89%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SentinelTI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3401568"/>
            <a:ext cx="749808" cy="749808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0" y="344728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700" dirty="0"/>
          </a:p>
        </p:txBody>
      </p:sp>
      <p:sp>
        <p:nvSpPr>
          <p:cNvPr id="7" name="Text 6"/>
          <p:cNvSpPr/>
          <p:nvPr/>
        </p:nvSpPr>
        <p:spPr>
          <a:xfrm>
            <a:off x="5669280" y="38130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510528" y="3401568"/>
            <a:ext cx="749808" cy="749808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10528" y="344728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0528" y="38130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7351776" y="3401568"/>
            <a:ext cx="749808" cy="749808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51776" y="344728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51776" y="38130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8193024" y="3401568"/>
            <a:ext cx="749808" cy="749808"/>
          </a:xfrm>
          <a:prstGeom prst="rect">
            <a:avLst/>
          </a:prstGeom>
          <a:solidFill>
            <a:srgbClr val="0D253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93024" y="344728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193024" y="38130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SOC targets met or exceeded. Feature drift stable (KS &lt; 0.1). Score stability σ &lt; 0.05.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A20"/>
          </a:solidFill>
          <a:ln w="12700">
            <a:solidFill>
              <a:srgbClr val="0A1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45720" cy="5143500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64008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SentinelTI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· Real-time · SOC-ready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Shah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3101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soham27@somaiya.edu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4320" y="3566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github.com/soham7998/sentinel_TI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89120" y="38404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389120" y="1042416"/>
            <a:ext cx="237744" cy="237744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042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36592" y="932688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all SOC targets while maintaining &lt;10s data freshness.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1700784"/>
            <a:ext cx="237744" cy="237744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17007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36592" y="164592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 design eliminates the detection lag of traditional blacklist systems.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2359152"/>
            <a:ext cx="237744" cy="237744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23591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36592" y="2304288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turns black-box ML into analyst-trusted, evidence-based decisions.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89120" y="3017520"/>
            <a:ext cx="237744" cy="237744"/>
          </a:xfrm>
          <a:prstGeom prst="ellipse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36592" y="2962656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 enrichment adds VPN/Tor/proxy detection — a threat signal traditional GeoIP missed.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89120" y="363931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4005072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Graph-based IOC correlation across campaigns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389120" y="435254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Federated learning for multi-org threat sharing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389120" y="470001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LLM-generated natural language SHAP summaries for non-technical SOC staff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1"/>
          </a:solidFill>
          <a:ln w="12700">
            <a:solidFill>
              <a:srgbClr val="080E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0C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95% hold for every new IOC?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95% is what was measured on our test set — not a permanent guarantee for all future IOCs.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4023360" cy="54864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922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Precision = 95% Means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100 IPs our model flagged as malicious, 95 were genuinely malicious and 5 were benign IPs incorrectly flagged as threats (false positives).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99232"/>
            <a:ext cx="402336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08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Was Measured 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held-out test split of our 200 enriched IOCs — collected from Abuse.ch and CINS Army at a specific point in time. It reflects model performance on that snapshot, not on all possible future IPs.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PRECISION MAY VARY ON NEW IOCs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202996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029968"/>
            <a:ext cx="64008" cy="76809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377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tactics change — new botnets, new ASN patterns. If live IOC feature distributions shift far from training data, precision can drop.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64008" cy="76809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Quality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735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active IPs may have sparse AbuseIPDB / VirusTotal records. Weaker features → lower model confidence.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822192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822192"/>
            <a:ext cx="64008" cy="76809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895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0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Shift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69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malicious to benign IPs in live feeds isn't fixed. Changes affect how thresholds behave in practice.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590288"/>
            <a:ext cx="8366760" cy="384048"/>
          </a:xfrm>
          <a:prstGeom prst="rect">
            <a:avLst/>
          </a:prstGeom>
          <a:solidFill>
            <a:srgbClr val="EBF8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590288"/>
            <a:ext cx="54864" cy="384048"/>
          </a:xfrm>
          <a:prstGeom prst="rect">
            <a:avLst/>
          </a:prstGeom>
          <a:solidFill>
            <a:srgbClr val="00C864"/>
          </a:solidFill>
          <a:ln w="12700">
            <a:solidFill>
              <a:srgbClr val="00C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26864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framing:  "95% precision on the evaluation dataset. Feature drift monitoring (KS &lt; 0.1) and score stability (σ &lt; 0.05) indicate the model generalises reliably to incoming IOCs under current threat distributions."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1206</Words>
  <Application>Microsoft Office PowerPoint</Application>
  <PresentationFormat>On-screen Show (16:9)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SentinelTI — Explainable IP Threat Intelligence</dc:title>
  <dc:subject>PptxGenJS Presentation</dc:subject>
  <dc:creator>Soham Shah &amp; Mousmi Pawar</dc:creator>
  <cp:lastModifiedBy>Soham Shah</cp:lastModifiedBy>
  <cp:revision>5</cp:revision>
  <dcterms:created xsi:type="dcterms:W3CDTF">2026-04-25T03:34:10Z</dcterms:created>
  <dcterms:modified xsi:type="dcterms:W3CDTF">2026-05-05T18:59:35Z</dcterms:modified>
</cp:coreProperties>
</file>