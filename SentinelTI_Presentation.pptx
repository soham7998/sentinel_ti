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 %</c:v>
                </c:pt>
              </c:strCache>
            </c:strRef>
          </c:tx>
          <c:spPr>
            <a:solidFill>
              <a:srgbClr val="2D5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D5A7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5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D5A7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C86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AIRPA
(Lewis '20)</c:v>
                  </c:pt>
                  <c:pt idx="1">
                    <c:v>Anjum &amp;
Chowdhury</c:v>
                  </c:pt>
                  <c:pt idx="2">
                    <c:v>Palaniappan
et al.</c:v>
                  </c:pt>
                  <c:pt idx="3">
                    <c:v>SentinelTI
(Ours)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91</c:v>
                </c:pt>
                <c:pt idx="2">
                  <c:v>89</c:v>
                </c:pt>
                <c:pt idx="3">
                  <c:v>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8D8E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75"/>
        </c:scaling>
        <c:delete val="0"/>
        <c:axPos val="l"/>
        <c:majorGridlines>
          <c:spPr>
            <a:ln w="6350" cap="flat">
              <a:solidFill>
                <a:srgbClr val="1A3A4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8D8E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2530"/>
        </a:solidFill>
        <a:ln>
          <a:noFill/>
        </a:ln>
        <a:effectLst/>
      </c:spPr>
    </c:plotArea>
    <c:plotVisOnly val="1"/>
    <c:dispBlanksAs val="span"/>
  </c:chart>
  <c:spPr>
    <a:solidFill>
      <a:srgbClr val="0D25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0D1A1F"/>
          </a:solidFill>
          <a:ln w="12700">
            <a:solidFill>
              <a:srgbClr val="0D1A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0" y="0"/>
            <a:ext cx="54864" cy="5143500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" y="274320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19656" y="274320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9464" y="274320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78992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1078992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19656" y="1078992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9464" y="1078992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883664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9848" y="1883664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19656" y="1883664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9464" y="1883664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2688336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69848" y="2688336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19656" y="2688336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9464" y="2688336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3493008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69848" y="3493008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19656" y="3493008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9464" y="3493008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4297680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9848" y="4297680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19656" y="4297680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69464" y="4297680"/>
            <a:ext cx="91440" cy="91440"/>
          </a:xfrm>
          <a:prstGeom prst="ellipse">
            <a:avLst/>
          </a:prstGeom>
          <a:solidFill>
            <a:srgbClr val="00E676">
              <a:alpha val="22000"/>
            </a:srgbClr>
          </a:solidFill>
          <a:ln w="6350">
            <a:solidFill>
              <a:srgbClr val="00E676">
                <a:alpha val="20000"/>
              </a:srgbClr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71600"/>
            <a:ext cx="1280160" cy="128016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256032" y="3017520"/>
            <a:ext cx="29626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SentinelTI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256032" y="3547872"/>
            <a:ext cx="2962656" cy="18288"/>
          </a:xfrm>
          <a:prstGeom prst="rect">
            <a:avLst/>
          </a:prstGeom>
          <a:solidFill>
            <a:srgbClr val="5A7A88"/>
          </a:solidFill>
          <a:ln w="12700">
            <a:solidFill>
              <a:srgbClr val="5A7A8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56032" y="3611880"/>
            <a:ext cx="2962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Research · 2026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256032" y="3886200"/>
            <a:ext cx="2962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Somaiya Vidyavihar University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840480" y="685800"/>
            <a:ext cx="5074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Explainable ML</a:t>
            </a:r>
            <a:endParaRPr lang="en-US" sz="3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for IP</a:t>
            </a:r>
            <a:endParaRPr lang="en-US" sz="3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</a:t>
            </a:r>
            <a:endParaRPr lang="en-US" sz="3400" dirty="0"/>
          </a:p>
        </p:txBody>
      </p:sp>
      <p:sp>
        <p:nvSpPr>
          <p:cNvPr id="34" name="Text 31"/>
          <p:cNvSpPr/>
          <p:nvPr/>
        </p:nvSpPr>
        <p:spPr>
          <a:xfrm>
            <a:off x="3840480" y="306324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Maliciousness Risk Scoring for SOC Analysts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3840480" y="3703320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Soham Shah  ·  Mousmi Pawar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840480" y="4206240"/>
            <a:ext cx="868680" cy="256032"/>
          </a:xfrm>
          <a:prstGeom prst="rect">
            <a:avLst/>
          </a:prstGeom>
          <a:solidFill>
            <a:srgbClr val="0A2A35"/>
          </a:solidFill>
          <a:ln w="6350">
            <a:solidFill>
              <a:srgbClr val="5A7A8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840480" y="4206240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4818888" y="4206240"/>
            <a:ext cx="868680" cy="256032"/>
          </a:xfrm>
          <a:prstGeom prst="rect">
            <a:avLst/>
          </a:prstGeom>
          <a:solidFill>
            <a:srgbClr val="0A2A35"/>
          </a:solidFill>
          <a:ln w="6350">
            <a:solidFill>
              <a:srgbClr val="5A7A8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818888" y="4206240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750" dirty="0"/>
          </a:p>
        </p:txBody>
      </p:sp>
      <p:sp>
        <p:nvSpPr>
          <p:cNvPr id="40" name="Shape 37"/>
          <p:cNvSpPr/>
          <p:nvPr/>
        </p:nvSpPr>
        <p:spPr>
          <a:xfrm>
            <a:off x="5797296" y="4206240"/>
            <a:ext cx="868680" cy="256032"/>
          </a:xfrm>
          <a:prstGeom prst="rect">
            <a:avLst/>
          </a:prstGeom>
          <a:solidFill>
            <a:srgbClr val="0A2A35"/>
          </a:solidFill>
          <a:ln w="6350">
            <a:solidFill>
              <a:srgbClr val="5A7A8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797296" y="4206240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750" dirty="0"/>
          </a:p>
        </p:txBody>
      </p:sp>
      <p:sp>
        <p:nvSpPr>
          <p:cNvPr id="42" name="Shape 39"/>
          <p:cNvSpPr/>
          <p:nvPr/>
        </p:nvSpPr>
        <p:spPr>
          <a:xfrm>
            <a:off x="6775704" y="4206240"/>
            <a:ext cx="868680" cy="256032"/>
          </a:xfrm>
          <a:prstGeom prst="rect">
            <a:avLst/>
          </a:prstGeom>
          <a:solidFill>
            <a:srgbClr val="0A2A35"/>
          </a:solidFill>
          <a:ln w="6350">
            <a:solidFill>
              <a:srgbClr val="5A7A88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775704" y="4206240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IPInfo</a:t>
            </a:r>
            <a:endParaRPr lang="en-US" sz="750" dirty="0"/>
          </a:p>
        </p:txBody>
      </p:sp>
      <p:sp>
        <p:nvSpPr>
          <p:cNvPr id="44" name="Shape 41"/>
          <p:cNvSpPr/>
          <p:nvPr/>
        </p:nvSpPr>
        <p:spPr>
          <a:xfrm>
            <a:off x="7754112" y="4206240"/>
            <a:ext cx="868680" cy="256032"/>
          </a:xfrm>
          <a:prstGeom prst="rect">
            <a:avLst/>
          </a:prstGeom>
          <a:solidFill>
            <a:srgbClr val="0A2A35"/>
          </a:solidFill>
          <a:ln w="6350">
            <a:solidFill>
              <a:srgbClr val="5A7A88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54112" y="4206240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80E11"/>
          </a:solidFill>
          <a:ln w="12700">
            <a:solidFill>
              <a:srgbClr val="080E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80E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threat intel fails SOC analysts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Blacklist-based systems leave teams flying blind — stale data, no context, no explanation.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40690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30552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984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0E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Blacklists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43000" y="23317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lag of hours — attackers are long gone by the time alerts fire.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800600" y="1874520"/>
            <a:ext cx="40690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130552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984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0E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Decisions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486400" y="23317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explanation of why an IP is flagged. Analysts can't validate or trust alerts.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3246120"/>
            <a:ext cx="40690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50215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43000" y="33558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0E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143000" y="37033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or not — no risk gradient. All alerts treated as equally urgent.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00600" y="3246120"/>
            <a:ext cx="40690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502152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486400" y="33558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0E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Fatigue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5486400" y="37033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4–8% FPR at scale means thousands of false alarms per day.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A20"/>
          </a:solidFill>
          <a:ln w="12700">
            <a:solidFill>
              <a:srgbClr val="0A1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 SentinelTI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real-time, explainable IP threat scoring dashboard built for SOC-grade production use.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7472" y="1828800"/>
            <a:ext cx="1993392" cy="2633472"/>
          </a:xfrm>
          <a:prstGeom prst="rect">
            <a:avLst/>
          </a:prstGeom>
          <a:solidFill>
            <a:srgbClr val="0D2530"/>
          </a:solidFill>
          <a:ln w="12700">
            <a:solidFill>
              <a:srgbClr val="1A3A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828800"/>
            <a:ext cx="1993392" cy="5486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29968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38912" y="263347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Ingestion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38912" y="3127248"/>
            <a:ext cx="18288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Abuse.ch + CINS Army feeds · &lt;10s freshness · async enrichment pipeline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496312" y="1828800"/>
            <a:ext cx="1993392" cy="2633472"/>
          </a:xfrm>
          <a:prstGeom prst="rect">
            <a:avLst/>
          </a:prstGeom>
          <a:solidFill>
            <a:srgbClr val="0D2530"/>
          </a:solidFill>
          <a:ln w="12700">
            <a:solidFill>
              <a:srgbClr val="1A3A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96312" y="1828800"/>
            <a:ext cx="1993392" cy="5486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2029968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87752" y="263347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ML Scoring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2587752" y="3127248"/>
            <a:ext cx="18288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+ XGBoost stacking · continuous risk score 0–1 · linear meta-learner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645152" y="1828800"/>
            <a:ext cx="1993392" cy="2633472"/>
          </a:xfrm>
          <a:prstGeom prst="rect">
            <a:avLst/>
          </a:prstGeom>
          <a:solidFill>
            <a:srgbClr val="0D2530"/>
          </a:solidFill>
          <a:ln w="12700">
            <a:solidFill>
              <a:srgbClr val="1A3A4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645152" y="1828800"/>
            <a:ext cx="1993392" cy="5486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2029968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736592" y="263347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4736592" y="3127248"/>
            <a:ext cx="18288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feature importance + local per-IP attribution · every score is auditable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6793992" y="1828800"/>
            <a:ext cx="1993392" cy="2633472"/>
          </a:xfrm>
          <a:prstGeom prst="rect">
            <a:avLst/>
          </a:prstGeom>
          <a:solidFill>
            <a:srgbClr val="0D2530"/>
          </a:solidFill>
          <a:ln w="12700">
            <a:solidFill>
              <a:srgbClr val="1A3A4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793992" y="1828800"/>
            <a:ext cx="1993392" cy="5486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029968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885432" y="263347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Dashboard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6885432" y="3127248"/>
            <a:ext cx="18288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3-tier risk: LOW / MEDIUM / HIGH · colour-coded · Streamlit · Docker-ready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80E11"/>
          </a:solidFill>
          <a:ln w="12700">
            <a:solidFill>
              <a:srgbClr val="080E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0E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Pipeline Design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and enrichment are fully decoupled — zero latency for analysts, full depth in the background.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" y="1627632"/>
            <a:ext cx="1298448" cy="2331720"/>
          </a:xfrm>
          <a:prstGeom prst="rect">
            <a:avLst/>
          </a:prstGeom>
          <a:solidFill>
            <a:srgbClr val="080E11"/>
          </a:solidFill>
          <a:ln w="12700">
            <a:solidFill>
              <a:srgbClr val="1A3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0392" y="1499616"/>
            <a:ext cx="347472" cy="347472"/>
          </a:xfrm>
          <a:prstGeom prst="ellipse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49961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171907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Feeds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38912" y="2176272"/>
            <a:ext cx="11887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Abuse.ch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CINS Army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682496" y="2743200"/>
            <a:ext cx="128016" cy="5486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28216" y="2633472"/>
            <a:ext cx="109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828800" y="1627632"/>
            <a:ext cx="1298448" cy="2331720"/>
          </a:xfrm>
          <a:prstGeom prst="rect">
            <a:avLst/>
          </a:prstGeom>
          <a:solidFill>
            <a:srgbClr val="080E11"/>
          </a:solidFill>
          <a:ln w="12700">
            <a:solidFill>
              <a:srgbClr val="1A3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95144" y="1499616"/>
            <a:ext cx="347472" cy="347472"/>
          </a:xfrm>
          <a:prstGeom prst="ellipse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95144" y="149961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883664" y="171907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 Ingestion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883664" y="2176272"/>
            <a:ext cx="11887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200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27248" y="2743200"/>
            <a:ext cx="128016" cy="5486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72968" y="2633472"/>
            <a:ext cx="109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73552" y="1627632"/>
            <a:ext cx="1298448" cy="2331720"/>
          </a:xfrm>
          <a:prstGeom prst="rect">
            <a:avLst/>
          </a:prstGeom>
          <a:solidFill>
            <a:srgbClr val="080E11"/>
          </a:solidFill>
          <a:ln w="12700">
            <a:solidFill>
              <a:srgbClr val="1A3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39896" y="1499616"/>
            <a:ext cx="347472" cy="347472"/>
          </a:xfrm>
          <a:prstGeom prst="ellipse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39896" y="149961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28416" y="171907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Enrichment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28416" y="2176272"/>
            <a:ext cx="11887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AbuseIPDB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IPInfo · ASN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0" y="2743200"/>
            <a:ext cx="128016" cy="5486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2633472"/>
            <a:ext cx="109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18304" y="1627632"/>
            <a:ext cx="1298448" cy="2331720"/>
          </a:xfrm>
          <a:prstGeom prst="rect">
            <a:avLst/>
          </a:prstGeom>
          <a:solidFill>
            <a:srgbClr val="080E11"/>
          </a:solidFill>
          <a:ln w="12700">
            <a:solidFill>
              <a:srgbClr val="1A3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184648" y="1499616"/>
            <a:ext cx="347472" cy="347472"/>
          </a:xfrm>
          <a:prstGeom prst="ellipse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4648" y="149961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73168" y="171907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Store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773168" y="2176272"/>
            <a:ext cx="11887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016752" y="2743200"/>
            <a:ext cx="128016" cy="5486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62472" y="2633472"/>
            <a:ext cx="109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63056" y="1627632"/>
            <a:ext cx="1298448" cy="2331720"/>
          </a:xfrm>
          <a:prstGeom prst="rect">
            <a:avLst/>
          </a:prstGeom>
          <a:solidFill>
            <a:srgbClr val="00503A"/>
          </a:solidFill>
          <a:ln w="12700">
            <a:solidFill>
              <a:srgbClr val="1A3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629400" y="1499616"/>
            <a:ext cx="347472" cy="347472"/>
          </a:xfrm>
          <a:prstGeom prst="ellipse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29400" y="149961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17920" y="171907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Scoring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17920" y="2176272"/>
            <a:ext cx="11887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+ XGBoost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0–1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461504" y="2743200"/>
            <a:ext cx="128016" cy="5486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07224" y="2633472"/>
            <a:ext cx="109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607808" y="1627632"/>
            <a:ext cx="1298448" cy="2331720"/>
          </a:xfrm>
          <a:prstGeom prst="rect">
            <a:avLst/>
          </a:prstGeom>
          <a:solidFill>
            <a:srgbClr val="00503A"/>
          </a:solidFill>
          <a:ln w="12700">
            <a:solidFill>
              <a:srgbClr val="1A3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074152" y="1499616"/>
            <a:ext cx="347472" cy="347472"/>
          </a:xfrm>
          <a:prstGeom prst="ellipse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74152" y="149961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662672" y="171907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+ SOC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662672" y="2176272"/>
            <a:ext cx="11887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LOW·MED·HIGH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57200" y="42062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Fast ingestion path (blue) runs in milliseconds. Enrichment + ML scoring (green) runs asynchronously — dashboard freshness &lt;10s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A20"/>
          </a:solidFill>
          <a:ln w="12700">
            <a:solidFill>
              <a:srgbClr val="0A1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ENRICHMENT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Context via IPInfo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IP is enriched with location, network org, and privacy signals before ML scoring.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719072"/>
            <a:ext cx="5120640" cy="822960"/>
          </a:xfrm>
          <a:prstGeom prst="rect">
            <a:avLst/>
          </a:prstGeom>
          <a:solidFill>
            <a:srgbClr val="0D2530"/>
          </a:solidFill>
          <a:ln w="12700">
            <a:solidFill>
              <a:srgbClr val="1A3A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19072"/>
            <a:ext cx="64008" cy="8229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7393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AbuseIPDB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4663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Abuse reports · Confidence % · Attack categories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679192"/>
            <a:ext cx="5120640" cy="822960"/>
          </a:xfrm>
          <a:prstGeom prst="rect">
            <a:avLst/>
          </a:prstGeom>
          <a:solidFill>
            <a:srgbClr val="0D2530"/>
          </a:solidFill>
          <a:ln w="12700">
            <a:solidFill>
              <a:srgbClr val="1A3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679192"/>
            <a:ext cx="64008" cy="82296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73405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8368" y="3026664"/>
            <a:ext cx="4663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detections · Scan results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639312"/>
            <a:ext cx="5120640" cy="822960"/>
          </a:xfrm>
          <a:prstGeom prst="rect">
            <a:avLst/>
          </a:prstGeom>
          <a:solidFill>
            <a:srgbClr val="0D2530"/>
          </a:solidFill>
          <a:ln w="12700">
            <a:solidFill>
              <a:srgbClr val="1A3A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639312"/>
            <a:ext cx="64008" cy="822960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69417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IPInfo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8368" y="3986784"/>
            <a:ext cx="4663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· City · Org · ASN · VPN / Tor / Proxy flags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852160" y="80467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ENRICHMENT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852160" y="1078992"/>
            <a:ext cx="3108960" cy="1024128"/>
          </a:xfrm>
          <a:prstGeom prst="rect">
            <a:avLst/>
          </a:prstGeom>
          <a:solidFill>
            <a:srgbClr val="0D2530"/>
          </a:solidFill>
          <a:ln w="12700">
            <a:solidFill>
              <a:srgbClr val="1A3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1133856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IP: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137.184.9.29
</a:t>
            </a:r>
            <a:pPr indent="0" marL="0">
              <a:buNone/>
            </a:pPr>
            <a:r>
              <a:rPr lang="en-US" sz="8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Abuse.ch
</a:t>
            </a:r>
            <a:pPr indent="0" marL="0">
              <a:buNone/>
            </a:pPr>
            <a:r>
              <a:rPr lang="en-US" sz="8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reports
</a:t>
            </a:r>
            <a:pPr indent="0" marL="0">
              <a:buNone/>
            </a:pPr>
            <a:r>
              <a:rPr lang="en-US" sz="8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Label:  </a:t>
            </a:r>
            <a:pPr indent="0" marL="0">
              <a:buNone/>
            </a:pPr>
            <a:r>
              <a:rPr lang="en-US" sz="850" dirty="0">
                <a:solidFill>
                  <a:srgbClr val="F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852160" y="224028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ENRICHMENT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852160" y="2514600"/>
            <a:ext cx="3108960" cy="1920240"/>
          </a:xfrm>
          <a:prstGeom prst="rect">
            <a:avLst/>
          </a:prstGeom>
          <a:solidFill>
            <a:srgbClr val="0D2530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2578608"/>
            <a:ext cx="2743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confidence_pct:  </a:t>
            </a:r>
            <a:pPr indent="0" marL="0">
              <a:buNone/>
            </a:pPr>
            <a:r>
              <a:rPr lang="en-US" sz="85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
</a:t>
            </a:r>
            <a:pPr indent="0" marL="0">
              <a:buNone/>
            </a:pPr>
            <a:r>
              <a:rPr lang="en-US" sz="8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recency_hrs: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
</a:t>
            </a:r>
            <a:pPr indent="0" marL="0">
              <a:buNone/>
            </a:pPr>
            <a:r>
              <a:rPr lang="en-US" sz="8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vt_detections: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18/70
</a:t>
            </a:r>
            <a:pPr indent="0" marL="0">
              <a:buNone/>
            </a:pPr>
            <a:r>
              <a:rPr lang="en-US" sz="8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ipinfo_country: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
</a:t>
            </a:r>
            <a:pPr indent="0" marL="0">
              <a:buNone/>
            </a:pPr>
            <a:r>
              <a:rPr lang="en-US" sz="8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ipinfo_org: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AS14061 DigitalOcean
</a:t>
            </a:r>
            <a:pPr indent="0" marL="0">
              <a:buNone/>
            </a:pPr>
            <a:r>
              <a:rPr lang="en-US" sz="8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privacy_tor: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
</a:t>
            </a:r>
            <a:pPr indent="0" marL="0">
              <a:buNone/>
            </a:pPr>
            <a:r>
              <a:rPr lang="en-US" sz="8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risk_score:  </a:t>
            </a:r>
            <a:pPr indent="0" marL="0">
              <a:buNone/>
            </a:pPr>
            <a:r>
              <a:rPr lang="en-US" sz="850" b="1" dirty="0">
                <a:solidFill>
                  <a:srgbClr val="F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  →  HIGH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80E11"/>
          </a:solidFill>
          <a:ln w="12700">
            <a:solidFill>
              <a:srgbClr val="080E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SCORING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0E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Ensemble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FEATURES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664208"/>
            <a:ext cx="54864" cy="23774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64208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Abuse Reports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54864" cy="23774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029968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54864" cy="23774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95728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 (hrs)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761488"/>
            <a:ext cx="54864" cy="23774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61488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Detections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127248"/>
            <a:ext cx="54864" cy="23774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127248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IPInfo Geo Risk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493008"/>
            <a:ext cx="54864" cy="23774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493008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Agreement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858768"/>
            <a:ext cx="54864" cy="23774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858768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Type Diversity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54864" cy="23774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24528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Feature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611880" y="1481328"/>
            <a:ext cx="2286000" cy="1051560"/>
          </a:xfrm>
          <a:prstGeom prst="rect">
            <a:avLst/>
          </a:prstGeom>
          <a:solidFill>
            <a:srgbClr val="080E11"/>
          </a:solidFill>
          <a:ln w="12700">
            <a:solidFill>
              <a:srgbClr val="1A3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703320" y="1572768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703320" y="19202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200 trees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aggregation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P_RF(y=1 | xᵢ)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11880" y="2715768"/>
            <a:ext cx="2286000" cy="1051560"/>
          </a:xfrm>
          <a:prstGeom prst="rect">
            <a:avLst/>
          </a:prstGeom>
          <a:solidFill>
            <a:srgbClr val="080E11"/>
          </a:solidFill>
          <a:ln w="12700">
            <a:solidFill>
              <a:srgbClr val="1A3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703320" y="2807208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703320" y="314553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300 trees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P_XGB(y=1 | xᵢ)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961888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492240" y="1874520"/>
            <a:ext cx="2212848" cy="1554480"/>
          </a:xfrm>
          <a:prstGeom prst="rect">
            <a:avLst/>
          </a:prstGeom>
          <a:solidFill>
            <a:srgbClr val="00503A"/>
          </a:solidFill>
          <a:ln w="19050">
            <a:solidFill>
              <a:srgbClr val="00C8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92240" y="1874520"/>
            <a:ext cx="2212848" cy="64008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0" y="1993392"/>
            <a:ext cx="202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Meta-Learner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2340864"/>
            <a:ext cx="20299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β₁·P_RF + β₂·P_XGB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P_final = sigmoid(ŷ)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748272" y="3584448"/>
            <a:ext cx="1691640" cy="411480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48272" y="35844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 0 → 1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571232" y="3429000"/>
            <a:ext cx="54864" cy="164592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709160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meta-learner chosen for interpretability: β₁ and β₂ coefficients expose relative model trust — full explainability preserved at every level.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A20"/>
          </a:solidFill>
          <a:ln w="12700">
            <a:solidFill>
              <a:srgbClr val="0A1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— Global &amp; Local Interpretability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FEATURE IMPORTANCE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|SHAP value| across all IPs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468880" y="1929384"/>
            <a:ext cx="2423160" cy="182880"/>
          </a:xfrm>
          <a:prstGeom prst="rect">
            <a:avLst/>
          </a:prstGeom>
          <a:solidFill>
            <a:srgbClr val="0D2530"/>
          </a:solidFill>
          <a:ln w="6350">
            <a:solidFill>
              <a:srgbClr val="1A3A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1929384"/>
            <a:ext cx="1986991" cy="182880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56048" y="1874520"/>
            <a:ext cx="411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7200" y="221284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Abuse Reports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468880" y="2267712"/>
            <a:ext cx="2423160" cy="182880"/>
          </a:xfrm>
          <a:prstGeom prst="rect">
            <a:avLst/>
          </a:prstGeom>
          <a:solidFill>
            <a:srgbClr val="0D2530"/>
          </a:solidFill>
          <a:ln w="6350">
            <a:solidFill>
              <a:srgbClr val="1A3A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2267712"/>
            <a:ext cx="1793138" cy="182880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56048" y="2212848"/>
            <a:ext cx="411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" y="255117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Detections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468880" y="2606040"/>
            <a:ext cx="2423160" cy="182880"/>
          </a:xfrm>
          <a:prstGeom prst="rect">
            <a:avLst/>
          </a:prstGeom>
          <a:solidFill>
            <a:srgbClr val="0D2530"/>
          </a:solidFill>
          <a:ln w="6350">
            <a:solidFill>
              <a:srgbClr val="1A3A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68880" y="2606040"/>
            <a:ext cx="1478128" cy="18288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56048" y="2551176"/>
            <a:ext cx="411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7200" y="2889504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IPInfo Geo Risk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468880" y="2944368"/>
            <a:ext cx="2423160" cy="182880"/>
          </a:xfrm>
          <a:prstGeom prst="rect">
            <a:avLst/>
          </a:prstGeom>
          <a:solidFill>
            <a:srgbClr val="0D2530"/>
          </a:solidFill>
          <a:ln w="6350">
            <a:solidFill>
              <a:srgbClr val="1A3A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68880" y="2944368"/>
            <a:ext cx="1066190" cy="18288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56048" y="2889504"/>
            <a:ext cx="411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3227832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Types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468880" y="3282696"/>
            <a:ext cx="2423160" cy="182880"/>
          </a:xfrm>
          <a:prstGeom prst="rect">
            <a:avLst/>
          </a:prstGeom>
          <a:solidFill>
            <a:srgbClr val="0D2530"/>
          </a:solidFill>
          <a:ln w="6350">
            <a:solidFill>
              <a:srgbClr val="1A3A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68880" y="3282696"/>
            <a:ext cx="920801" cy="1828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3227832"/>
            <a:ext cx="411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0.38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7200" y="356616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68880" y="3621024"/>
            <a:ext cx="2423160" cy="182880"/>
          </a:xfrm>
          <a:prstGeom prst="rect">
            <a:avLst/>
          </a:prstGeom>
          <a:solidFill>
            <a:srgbClr val="0D2530"/>
          </a:solidFill>
          <a:ln w="6350">
            <a:solidFill>
              <a:srgbClr val="1A3A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468880" y="3621024"/>
            <a:ext cx="726948" cy="1828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3566160"/>
            <a:ext cx="411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57200" y="39044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Feature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468880" y="3959352"/>
            <a:ext cx="2423160" cy="182880"/>
          </a:xfrm>
          <a:prstGeom prst="rect">
            <a:avLst/>
          </a:prstGeom>
          <a:solidFill>
            <a:srgbClr val="0D2530"/>
          </a:solidFill>
          <a:ln w="6350">
            <a:solidFill>
              <a:srgbClr val="1A3A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68880" y="3959352"/>
            <a:ext cx="581558" cy="182880"/>
          </a:xfrm>
          <a:prstGeom prst="rect">
            <a:avLst/>
          </a:prstGeom>
          <a:solidFill>
            <a:srgbClr val="5A7A88"/>
          </a:solidFill>
          <a:ln w="12700">
            <a:solidFill>
              <a:srgbClr val="5A7A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3904488"/>
            <a:ext cx="411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57200" y="424281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 (hrs)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68880" y="4297680"/>
            <a:ext cx="2423160" cy="182880"/>
          </a:xfrm>
          <a:prstGeom prst="rect">
            <a:avLst/>
          </a:prstGeom>
          <a:solidFill>
            <a:srgbClr val="0D2530"/>
          </a:solidFill>
          <a:ln w="6350">
            <a:solidFill>
              <a:srgbClr val="1A3A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68880" y="4297680"/>
            <a:ext cx="436169" cy="182880"/>
          </a:xfrm>
          <a:prstGeom prst="rect">
            <a:avLst/>
          </a:prstGeom>
          <a:solidFill>
            <a:srgbClr val="5A7A88"/>
          </a:solidFill>
          <a:ln w="12700">
            <a:solidFill>
              <a:srgbClr val="5A7A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6048" y="4242816"/>
            <a:ext cx="411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577840" y="1298448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PER-IP EXPLANATION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577840" y="157276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137.184.9.29 — Risk Score: 0.87 (HIGH)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577840" y="1938528"/>
            <a:ext cx="3337560" cy="347472"/>
          </a:xfrm>
          <a:prstGeom prst="rect">
            <a:avLst/>
          </a:prstGeom>
          <a:solidFill>
            <a:srgbClr val="0D2530"/>
          </a:solidFill>
          <a:ln w="6350">
            <a:solidFill>
              <a:srgbClr val="1A3A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77840" y="1938528"/>
            <a:ext cx="45720" cy="347472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87568" y="198424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confidence_pct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836408" y="1984248"/>
            <a:ext cx="512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577840" y="2368296"/>
            <a:ext cx="3337560" cy="347472"/>
          </a:xfrm>
          <a:prstGeom prst="rect">
            <a:avLst/>
          </a:prstGeom>
          <a:solidFill>
            <a:srgbClr val="0D2530"/>
          </a:solidFill>
          <a:ln w="6350">
            <a:solidFill>
              <a:srgbClr val="1A3A4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577840" y="2368296"/>
            <a:ext cx="45720" cy="347472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87568" y="241401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abuse_reports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836408" y="2414016"/>
            <a:ext cx="512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+0.28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77840" y="2798064"/>
            <a:ext cx="3337560" cy="347472"/>
          </a:xfrm>
          <a:prstGeom prst="rect">
            <a:avLst/>
          </a:prstGeom>
          <a:solidFill>
            <a:srgbClr val="0D2530"/>
          </a:solidFill>
          <a:ln w="6350">
            <a:solidFill>
              <a:srgbClr val="1A3A4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577840" y="2798064"/>
            <a:ext cx="45720" cy="347472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87568" y="284378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vt_detections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836408" y="2843784"/>
            <a:ext cx="512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+0.19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77840" y="3227832"/>
            <a:ext cx="3337560" cy="347472"/>
          </a:xfrm>
          <a:prstGeom prst="rect">
            <a:avLst/>
          </a:prstGeom>
          <a:solidFill>
            <a:srgbClr val="0D2530"/>
          </a:solidFill>
          <a:ln w="6350">
            <a:solidFill>
              <a:srgbClr val="1A3A4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77840" y="3227832"/>
            <a:ext cx="45720" cy="347472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87568" y="327355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ipinfo_geo_risk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836408" y="3273552"/>
            <a:ext cx="512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+0.12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77840" y="3657600"/>
            <a:ext cx="3337560" cy="347472"/>
          </a:xfrm>
          <a:prstGeom prst="rect">
            <a:avLst/>
          </a:prstGeom>
          <a:solidFill>
            <a:srgbClr val="0D2530"/>
          </a:solidFill>
          <a:ln w="6350">
            <a:solidFill>
              <a:srgbClr val="1A3A4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577840" y="3657600"/>
            <a:ext cx="45720" cy="347472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87568" y="370332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attack_types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836408" y="3703320"/>
            <a:ext cx="512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+0.08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577840" y="4087368"/>
            <a:ext cx="3337560" cy="347472"/>
          </a:xfrm>
          <a:prstGeom prst="rect">
            <a:avLst/>
          </a:prstGeom>
          <a:solidFill>
            <a:srgbClr val="0D2530"/>
          </a:solidFill>
          <a:ln w="6350">
            <a:solidFill>
              <a:srgbClr val="1A3A4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577840" y="4087368"/>
            <a:ext cx="45720" cy="347472"/>
          </a:xfrm>
          <a:prstGeom prst="rect">
            <a:avLst/>
          </a:prstGeom>
          <a:solidFill>
            <a:srgbClr val="FF4444"/>
          </a:solidFill>
          <a:ln w="12700">
            <a:solidFill>
              <a:srgbClr val="FF444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687568" y="413308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multi_source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836408" y="4133088"/>
            <a:ext cx="512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-0.03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&gt; 0: pushes toward malicious  ·  φ &lt; 0: argues for benign  ·  Every score decomposed per feature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80E11"/>
          </a:solidFill>
          <a:ln w="12700">
            <a:solidFill>
              <a:srgbClr val="080E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0E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Risk Classification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binary blacklisting with a continuous risk gradient — enabling proportional SOC response.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627632"/>
            <a:ext cx="5440680" cy="91440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627632"/>
            <a:ext cx="1051560" cy="9144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83664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00200" y="1682496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– 0.3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9202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action required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00200" y="2176272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or stale historical reports. IP poses no current threat.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679192"/>
            <a:ext cx="5440680" cy="914400"/>
          </a:xfrm>
          <a:prstGeom prst="rect">
            <a:avLst/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679192"/>
            <a:ext cx="1051560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935224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00200" y="2734056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 – 0.7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600200" y="297180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recommended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00200" y="3227832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 or mixed signals. Warrants analyst attention and further investigation.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730752"/>
            <a:ext cx="5440680" cy="914400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730752"/>
            <a:ext cx="1051560" cy="9144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986784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600200" y="3785616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0.7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600200" y="402336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response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00200" y="4279392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threat indicators. Multi-source confirmation. Block and escalate immediately.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00800" y="14813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800" y="1874520"/>
            <a:ext cx="24688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3952" y="189280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24928" y="1911096"/>
            <a:ext cx="12984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424928" y="2130552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&gt;90%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00800" y="2468880"/>
            <a:ext cx="24688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73952" y="248716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424928" y="2505456"/>
            <a:ext cx="12984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424928" y="2724912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&gt;85%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00800" y="3063240"/>
            <a:ext cx="24688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73952" y="30815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424928" y="3099816"/>
            <a:ext cx="12984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424928" y="3319272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&gt;90%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400800" y="3657600"/>
            <a:ext cx="24688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473952" y="367588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7424928" y="3694176"/>
            <a:ext cx="12984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Rate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424928" y="3913632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&lt;5%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00800" y="4251960"/>
            <a:ext cx="24688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473952" y="427024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&lt;10s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7424928" y="4288536"/>
            <a:ext cx="12984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Freshness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7424928" y="4507992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&lt;15s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A20"/>
          </a:solidFill>
          <a:ln w="12700">
            <a:solidFill>
              <a:srgbClr val="0A1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SentinelTI vs. Prior Work</a:t>
            </a:r>
            <a:endParaRPr lang="en-US" sz="2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61872"/>
          <a:ext cx="502920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977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comparison across published IP reputation systems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61872"/>
          <a:ext cx="3310128" cy="2011680"/>
        </p:xfrm>
        <a:graphic>
          <a:graphicData uri="http://schemas.openxmlformats.org/drawingml/2006/table">
            <a:tbl>
              <a:tblPr/>
              <a:tblGrid>
                <a:gridCol w="1417320"/>
                <a:gridCol w="658368"/>
                <a:gridCol w="658368"/>
                <a:gridCol w="576072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C864"/>
                          </a:solidFill>
                        </a:rPr>
                        <a:t>System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C864"/>
                          </a:solidFill>
                        </a:rPr>
                        <a:t>Real-time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C864"/>
                          </a:solidFill>
                        </a:rPr>
                        <a:t>SHAP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C864"/>
                          </a:solidFill>
                        </a:rPr>
                        <a:t>Precision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8D8E0"/>
                          </a:solidFill>
                        </a:rPr>
                        <a:t>AIRPA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8D8E0"/>
                          </a:solidFill>
                        </a:rPr>
                        <a:t>✗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8D8E0"/>
                          </a:solidFill>
                        </a:rPr>
                        <a:t>✗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8D8E0"/>
                          </a:solidFill>
                        </a:rPr>
                        <a:t>85%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5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8D8E0"/>
                          </a:solidFill>
                        </a:rPr>
                        <a:t>Anjum '24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8D8E0"/>
                          </a:solidFill>
                        </a:rPr>
                        <a:t>Partial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8D8E0"/>
                          </a:solidFill>
                        </a:rPr>
                        <a:t>✗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8D8E0"/>
                          </a:solidFill>
                        </a:rPr>
                        <a:t>91%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5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8D8E0"/>
                          </a:solidFill>
                        </a:rPr>
                        <a:t>Palaniappan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8D8E0"/>
                          </a:solidFill>
                        </a:rPr>
                        <a:t>✗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8D8E0"/>
                          </a:solidFill>
                        </a:rPr>
                        <a:t>✗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8D8E0"/>
                          </a:solidFill>
                        </a:rPr>
                        <a:t>89%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5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SentinelTI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✓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✓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95%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03A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0" y="3401568"/>
            <a:ext cx="749808" cy="749808"/>
          </a:xfrm>
          <a:prstGeom prst="rect">
            <a:avLst/>
          </a:prstGeom>
          <a:solidFill>
            <a:srgbClr val="0D2530"/>
          </a:solidFill>
          <a:ln w="12700">
            <a:solidFill>
              <a:srgbClr val="1A3A4A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669280" y="3447288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5669280" y="3813048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750" dirty="0"/>
          </a:p>
        </p:txBody>
      </p:sp>
      <p:sp>
        <p:nvSpPr>
          <p:cNvPr id="11" name="Shape 7"/>
          <p:cNvSpPr/>
          <p:nvPr/>
        </p:nvSpPr>
        <p:spPr>
          <a:xfrm>
            <a:off x="6510528" y="3401568"/>
            <a:ext cx="749808" cy="749808"/>
          </a:xfrm>
          <a:prstGeom prst="rect">
            <a:avLst/>
          </a:prstGeom>
          <a:solidFill>
            <a:srgbClr val="0D2530"/>
          </a:solidFill>
          <a:ln w="12700">
            <a:solidFill>
              <a:srgbClr val="1A3A4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510528" y="3447288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510528" y="3813048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7351776" y="3401568"/>
            <a:ext cx="749808" cy="749808"/>
          </a:xfrm>
          <a:prstGeom prst="rect">
            <a:avLst/>
          </a:prstGeom>
          <a:solidFill>
            <a:srgbClr val="0D2530"/>
          </a:solidFill>
          <a:ln w="12700">
            <a:solidFill>
              <a:srgbClr val="1A3A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351776" y="3447288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7351776" y="3813048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8193024" y="3401568"/>
            <a:ext cx="749808" cy="749808"/>
          </a:xfrm>
          <a:prstGeom prst="rect">
            <a:avLst/>
          </a:prstGeom>
          <a:solidFill>
            <a:srgbClr val="0D2530"/>
          </a:solidFill>
          <a:ln w="12700">
            <a:solidFill>
              <a:srgbClr val="1A3A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93024" y="3447288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8193024" y="3813048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FPR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SOC targets met or exceeded. Feature drift stable (KS &lt; 0.1). Score stability σ &lt; 0.05.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0A1A20"/>
          </a:solidFill>
          <a:ln w="12700">
            <a:solidFill>
              <a:srgbClr val="0A1A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0" y="0"/>
            <a:ext cx="45720" cy="5143500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640080"/>
            <a:ext cx="1143000" cy="114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SentinelTI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274320" y="2423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· Real-time · SOC-ready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74320" y="30175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Soham Shah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74320" y="331012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soham27@somaiya.edu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74320" y="356616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github.com/soham7998/sentinel_TI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389120" y="384048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4389120" y="1042416"/>
            <a:ext cx="237744" cy="237744"/>
          </a:xfrm>
          <a:prstGeom prst="ellipse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0" y="104241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4736592" y="987552"/>
            <a:ext cx="4160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precision, 93% recall — exceeds all SOC targets while maintaining &lt;10s data freshness.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389120" y="1700784"/>
            <a:ext cx="237744" cy="237744"/>
          </a:xfrm>
          <a:prstGeom prst="ellipse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9120" y="170078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736592" y="1645920"/>
            <a:ext cx="4160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pipeline design eliminates the detection lag of traditional blacklist systems.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389120" y="2359152"/>
            <a:ext cx="237744" cy="237744"/>
          </a:xfrm>
          <a:prstGeom prst="ellipse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89120" y="235915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736592" y="2304288"/>
            <a:ext cx="4160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turns black-box ML into analyst-trusted, evidence-based decisions.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389120" y="3017520"/>
            <a:ext cx="237744" cy="237744"/>
          </a:xfrm>
          <a:prstGeom prst="ellipse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389120" y="301752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736592" y="2962656"/>
            <a:ext cx="4160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IPInfo enrichment adds VPN/Tor/proxy detection — a threat signal traditional GeoIP missed.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389120" y="363931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389120" y="4005072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Graph-based IOC correlation across campaigns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389120" y="4352544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Federated learning for multi-org threat sharing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389120" y="4700016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LLM-generated natural language SHAP summaries for non-technical SOC staff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80E11"/>
          </a:solidFill>
          <a:ln w="12700">
            <a:solidFill>
              <a:srgbClr val="080E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00C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PRECISION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80E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95% hold for every new IOC?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207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answer: 95% is what was measured on our test set — not a permanent guarantee for all future IOCs.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4023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691640"/>
            <a:ext cx="4023360" cy="54864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792224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0E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Precision = 95% Means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10312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 100 IPs our model flagged as malicious, 95 were genuinely malicious and 5 were benign IPs incorrectly flagged as threats (false positives).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999232"/>
            <a:ext cx="4023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999232"/>
            <a:ext cx="4023360" cy="54864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108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0E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Was Measured 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3438144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held-out test split of our 200 enriched IOCs — collected from Abuse.ch and CINS Army at a specific point in time. It reflects model performance on that snapshot, not on all possible future IPs.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63440" y="1691640"/>
            <a:ext cx="4251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PRECISION MAY VARY ON NEW IOCs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2029968"/>
            <a:ext cx="4251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2029968"/>
            <a:ext cx="64008" cy="768096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28032" y="21031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0E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Drift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28032" y="23774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tactics change — new botnets, new ASN patterns. If live IOC feature distributions shift far from training data, precision can drop.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2926080"/>
            <a:ext cx="4251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2926080"/>
            <a:ext cx="64008" cy="768096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28032" y="29992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0E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Quality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28032" y="327355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Newly active IPs may have sparse AbuseIPDB / VirusTotal records. Weaker features → lower model confidence.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63440" y="3822192"/>
            <a:ext cx="4251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3822192"/>
            <a:ext cx="64008" cy="768096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28032" y="389534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0E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Shift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28032" y="416966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ratio of malicious to benign IPs in live feeds isn't fixed. Changes affect how thresholds behave in practice.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4590288"/>
            <a:ext cx="8366760" cy="384048"/>
          </a:xfrm>
          <a:prstGeom prst="rect">
            <a:avLst/>
          </a:prstGeom>
          <a:solidFill>
            <a:srgbClr val="EBF8F1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590288"/>
            <a:ext cx="54864" cy="384048"/>
          </a:xfrm>
          <a:prstGeom prst="rect">
            <a:avLst/>
          </a:prstGeom>
          <a:solidFill>
            <a:srgbClr val="00C864"/>
          </a:solidFill>
          <a:ln w="12700">
            <a:solidFill>
              <a:srgbClr val="00C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26864"/>
            <a:ext cx="8092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framing:  "95% precision on the evaluation dataset. Feature drift monitoring (KS &lt; 0.1) and score stability (σ &lt; 0.05) indicate the model generalises reliably to incoming IOCs under current threat distributions."</a:t>
            </a:r>
            <a:endParaRPr lang="en-US" sz="8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SentinelTI — Explainable IP Threat Intelligence</dc:title>
  <dc:subject>PptxGenJS Presentation</dc:subject>
  <dc:creator>Soham Shah &amp; Mousmi Pawar</dc:creator>
  <cp:lastModifiedBy>Soham Shah &amp; Mousmi Pawar</cp:lastModifiedBy>
  <cp:revision>1</cp:revision>
  <dcterms:created xsi:type="dcterms:W3CDTF">2026-04-25T03:34:10Z</dcterms:created>
  <dcterms:modified xsi:type="dcterms:W3CDTF">2026-04-25T03:34:10Z</dcterms:modified>
</cp:coreProperties>
</file>